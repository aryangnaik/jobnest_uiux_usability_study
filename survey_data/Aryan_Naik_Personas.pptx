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328CC1"/>
                </a:solidFill>
                <a:latin typeface="Poppins"/>
              </a:rPr>
              <a:t>ASSIGNMENT</a:t>
            </a:r>
          </a:p>
          <a:p>
            <a:pPr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USER PERSONAS</a:t>
            </a:r>
            <a:br/>
            <a:r>
              <a:t>&amp; USER JOURNEY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5F8FB"/>
                </a:solidFill>
                <a:latin typeface="Poppins"/>
              </a:rPr>
              <a:t>Domain: Job Portals</a:t>
            </a:r>
            <a:br/>
            <a:br/>
            <a:r>
              <a:t>Featured Platforms:</a:t>
            </a:r>
            <a:br/>
            <a:r>
              <a:t>- Naukri.com</a:t>
            </a:r>
            <a:br/>
            <a:r>
              <a:t>- LinkedIn Jobs</a:t>
            </a:r>
            <a:br/>
            <a:r>
              <a:t>- Indeed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07273D"/>
                </a:solidFill>
                <a:latin typeface="Poppins"/>
              </a:rPr>
              <a:t>User Personas &amp; User Journey Maps</a:t>
            </a:r>
          </a:p>
          <a:p>
            <a:pPr>
              <a:spcAft>
                <a:spcPts val="4000"/>
              </a:spcAft>
            </a:pPr>
            <a:r>
              <a:rPr sz="1500">
                <a:solidFill>
                  <a:srgbClr val="637381"/>
                </a:solidFill>
                <a:latin typeface="Poppins"/>
              </a:rPr>
              <a:t>A Comparative UI/UX Case Study of Top Job Search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474720"/>
            <a:ext cx="6400800" cy="201168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STUDENT PROFILE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12B36"/>
                </a:solidFill>
                <a:latin typeface="Poppins"/>
              </a:rPr>
              <a:t>Submitted By:  Aryan Naik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12B36"/>
                </a:solidFill>
                <a:latin typeface="Poppins"/>
              </a:rPr>
              <a:t>PRN:  1262242637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12B36"/>
                </a:solidFill>
                <a:latin typeface="Poppins"/>
              </a:rPr>
              <a:t>Panel:  Panel F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12B36"/>
                </a:solidFill>
                <a:latin typeface="Poppins"/>
              </a:rPr>
              <a:t>Class:  UI/UX Design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1. The Final-Year Student – Eager to Break Into 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Aarav Patel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B.Tech Computer Science Senior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21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Mumbai,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IIT Bombay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want structured, entry-level tech opportunities without getting filtered out by corporate algorithmic bottlenecks."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Find verified technology internships and full-time SDE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Highlight university projects and technical hackathon wins.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Establish industry contacts through professional networking.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Browses jobs on mobile app during class breaks.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Customizes resume to match job keywords daily.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Maintains a detailed Google Sheet to track interview stages.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Entry-level roles requiring 2+ years of industry experience.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Unpaid internships offering zero skill progression.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Lack of real status updates after completing initial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987552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3/5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658368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2. The Working Professional – Seeking Career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Priya Sharma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Mid-Level UI/UX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26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Bengaluru, Karnataka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NID Bengaluru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love designing products, but I need a workspace that offers structural growth and respects standard boundaries."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Transition into senior product design and lead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Find workplaces that support remote or hybrid flexibility.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Benchmark current salary range against standard markets.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Passive job searching during late evenings on desktop.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Keeps portfolio link polished and prominently listed.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Funnels recruiter inquiries directly to private scheduling.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Vague job descriptions that mask actual team boundaries.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Low-quality, automated bulk outreach from random recruiters.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Lengthy multi-stage assignments with zero design compensation.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658368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2/5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987552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3. The Career Switcher – Transitioning Into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4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Amit Verma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Senior Digital Marketing Associate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31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Gurugram, Haryana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MBA (IMT Ghaziabad)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have solid business experience, but automated filtering systems reject me instantly because of my marketing title."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Transition into Associate Product Management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Showcase transferable marketing and metrics expertise.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Identify structured upskilling programs and certification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Applies to product roles primarily on LinkedIn and Naukri.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Writes descriptive cover letters highlighting user empathy.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Attends product design and management networking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ATS algorithms that auto-reject non-linear career profiles.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Employers demanding direct Product Management experience.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Lack of feedback explaining which skills were lacking.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1316736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4/5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987552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4. The Fresh Graduate – Seeking Fast-Track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5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Sneha Reddy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Recent MBA Graduate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22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Hyderabad, Telangana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IBS Hyderabad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need to secure a structured business analyst role quickly. I can't afford to wait months for silent pipelines."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Secure immediate, full-time business analyst employment.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Identify local companies offering structured training programs.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Leverage campus achievements to stand out from other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Applies to 15+ job postings daily using rapid tools.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Maintains updated profiles on Naukri and Indeed.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Enrolls in certification courses to improve profile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Silent job application pipelines (the 'ATS Black Hole').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Spam calls from fake recruitment agencies charging fees.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Confusing, long registration forms on direct portal redirects.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987552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3/5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1316736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5. The Experienced Manager – Seeking Leadership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Vikram Malhotra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Senior Engineering Director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42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Pune,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MS (BITS Pilani)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rely on curated executive networking and private recruiter search rather than public mass application boards."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Secure executive-level or VP engineering leadership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Find organizations offering strong product scaling roadmaps.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Maintain complete professional privacy during the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Monitors LinkedIn Premium for executive board placements.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Connects directly with leadership headhunters.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Accepts invitations to panel sessions to build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Unsolicited junior outreach from automated platform filters.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Public listing of confidential, highly strategic board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Platforms optimized for entry-level rather than leadership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658368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2/5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329184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1/5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6. The Remote Job Seeker – Focused on Flexibility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554480"/>
            <a:ext cx="1097280" cy="1097280"/>
          </a:xfrm>
          <a:prstGeom prst="ellipse">
            <a:avLst/>
          </a:prstGeom>
          <a:solidFill>
            <a:srgbClr val="07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Poppins"/>
              </a:rPr>
              <a:t>Neha Das</a:t>
            </a:r>
          </a:p>
          <a:p>
            <a:pPr algn="ctr"/>
            <a:r>
              <a:rPr sz="1100" b="1">
                <a:solidFill>
                  <a:srgbClr val="328CC1"/>
                </a:solidFill>
                <a:latin typeface="Poppins"/>
              </a:rPr>
              <a:t>Remote Content Strategist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Age: </a:t>
            </a:r>
            <a:r>
              <a:rPr sz="1000">
                <a:solidFill>
                  <a:srgbClr val="637381"/>
                </a:solidFill>
                <a:latin typeface="Poppins"/>
              </a:rPr>
              <a:t>28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Location: </a:t>
            </a:r>
            <a:r>
              <a:rPr sz="1000">
                <a:solidFill>
                  <a:srgbClr val="637381"/>
                </a:solidFill>
                <a:latin typeface="Poppins"/>
              </a:rPr>
              <a:t>Kolkata, West Bengal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12B36"/>
                </a:solidFill>
                <a:latin typeface="Poppins"/>
              </a:rPr>
              <a:t>Education: </a:t>
            </a:r>
            <a:r>
              <a:rPr sz="1000">
                <a:solidFill>
                  <a:srgbClr val="637381"/>
                </a:solidFill>
                <a:latin typeface="Poppins"/>
              </a:rPr>
              <a:t>MA Literature (Jadavpur Univ.)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37381"/>
                </a:solidFill>
                <a:latin typeface="Poppins"/>
              </a:rPr>
              <a:t>"I work best in focused remote environments, but filtering out fake 'WFH' options takes hours of manual review."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Goals &amp; Motivations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Secure verified, full-time remote writing and strategy roles.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Work with global remote teams across international time zones.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Automate regular alerts for freshly listed remote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Job Search Behaviors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Uses Indeed and specialized remote boards daily.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Maintains a professional website and writing portfolio.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Performs detailed background checks on employer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Frustrations &amp; Barriers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Inaccurate 'Remote' tags that turn out to be hybrid.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International opportunities restricting applicants by region.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•  Lack of tools to filter by specific work-from-home stipends.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794760"/>
            <a:ext cx="3657600" cy="219456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t"/>
          <a:lstStyle/>
          <a:p>
            <a:pPr algn="ctr">
              <a:spcAft>
                <a:spcPts val="12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Naukri.com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4165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0" y="4416552"/>
            <a:ext cx="987552" cy="7315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43434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3/5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LinkedIn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8737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4873752"/>
            <a:ext cx="1316736" cy="7315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4/5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257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12B36"/>
                </a:solidFill>
                <a:latin typeface="Poppins"/>
              </a:rPr>
              <a:t>Indeed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0" y="5330952"/>
            <a:ext cx="1645920" cy="7315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5257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5/5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LIFECYCLE JOURNEY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3C5D"/>
                </a:solidFill>
                <a:latin typeface="Poppins"/>
              </a:rPr>
              <a:t>User Journey Map: Aryan Naik's Comprehensive Job Portal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OPEN WEB/APP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Launches Naukri, LinkedIn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 </a:t>
            </a:r>
            <a:r>
              <a:rPr sz="800" dirty="0">
                <a:solidFill>
                  <a:srgbClr val="212B36"/>
                </a:solidFill>
                <a:latin typeface="Poppins"/>
              </a:rPr>
              <a:t> on mobile/web.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Browses home feed and landing banners.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737360" cy="640080"/>
          </a:xfrm>
          <a:prstGeom prst="roundRect">
            <a:avLst/>
          </a:prstGeom>
          <a:solidFill>
            <a:srgbClr val="FFF4E5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B87333"/>
                </a:solidFill>
                <a:latin typeface="Poppins"/>
              </a:rPr>
              <a:t>Neutral / Hopeful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Cluttered home screen (Naukri).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Invasive ads/pop-ups.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Slow cold-start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Clean minimal home tab.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Ad-free premium UI tier.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Optimize landing page bundle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LOGIN/REGISTER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Attempts login via Google credentials.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Updates profile fields or uploads new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017520"/>
            <a:ext cx="1737360" cy="640080"/>
          </a:xfrm>
          <a:prstGeom prst="roundRect">
            <a:avLst/>
          </a:prstGeom>
          <a:solidFill>
            <a:srgbClr val="FDECEC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B22222"/>
                </a:solidFill>
                <a:latin typeface="Poppins"/>
              </a:rPr>
              <a:t>Anxious / Impatient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Frequent OTP delay.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Forgotten password loops.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Resume parse corrupts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One-tap biometric login.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Smart parsing feedback.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Visual resume builder preview.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SEARCH JOBS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Inputs keywo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rd,</a:t>
            </a:r>
            <a:r>
              <a:rPr sz="800" dirty="0">
                <a:solidFill>
                  <a:srgbClr val="212B36"/>
                </a:solidFill>
                <a:latin typeface="Poppins"/>
              </a:rPr>
              <a:t> location, salary range filters.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Sorts jobs by 'Most Recent' or relevance.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017520"/>
            <a:ext cx="1737360" cy="640080"/>
          </a:xfrm>
          <a:prstGeom prst="roundRect">
            <a:avLst/>
          </a:prstGeom>
          <a:solidFill>
            <a:srgbClr val="FFF4E5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B87333"/>
                </a:solidFill>
                <a:latin typeface="Poppins"/>
              </a:rPr>
              <a:t>Focused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Irrelevant keywords.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Fake 'Remote' tags.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Expired job postings.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Semantic query understanding.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Strict tag validation.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Automatic filter for active listings.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APPLY TO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Clicks 'Easy Apply' 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/</a:t>
            </a:r>
            <a:r>
              <a:rPr sz="800" dirty="0">
                <a:solidFill>
                  <a:srgbClr val="212B36"/>
                </a:solidFill>
                <a:latin typeface="Poppins"/>
              </a:rPr>
              <a:t> gets redirected to external ATS.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Customizes resume file and submits.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17520"/>
            <a:ext cx="1737360" cy="640080"/>
          </a:xfrm>
          <a:prstGeom prst="roundRect">
            <a:avLst/>
          </a:prstGeom>
          <a:solidFill>
            <a:srgbClr val="FDECEC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B22222"/>
                </a:solidFill>
                <a:latin typeface="Poppins"/>
              </a:rPr>
              <a:t>Fatigued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Redundant fields on Workday.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Demanding custom cover letters.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External redirects fail.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1-click unified apply.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AI-assisted cover letters.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In-app integrated ATS frames.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TRACK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Checks 'Applied Jobs' tab periodically.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Monitors personal email for recruiter alerts.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017520"/>
            <a:ext cx="1737360" cy="640080"/>
          </a:xfrm>
          <a:prstGeom prst="roundRect">
            <a:avLst/>
          </a:prstGeom>
          <a:solidFill>
            <a:srgbClr val="FDECEC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B22222"/>
                </a:solidFill>
                <a:latin typeface="Poppins"/>
              </a:rPr>
              <a:t>Anxious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Generic 'Submitted' state.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No recruiter read 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.</a:t>
            </a:r>
            <a:endParaRPr sz="800" dirty="0">
              <a:solidFill>
                <a:srgbClr val="212B36"/>
              </a:solidFill>
              <a:latin typeface="Poppins"/>
            </a:endParaRP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The 'Black Hole' experience.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Recruiter stage tracking.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Interactive process timelines.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Automated nudge alerts.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1371600"/>
            <a:ext cx="1737360" cy="457200"/>
          </a:xfrm>
          <a:prstGeom prst="round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RECEIVE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1920240"/>
            <a:ext cx="173736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Recovers test link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.</a:t>
            </a:r>
            <a:r>
              <a:rPr sz="800" dirty="0">
                <a:solidFill>
                  <a:srgbClr val="212B36"/>
                </a:solidFill>
                <a:latin typeface="Poppins"/>
              </a:rPr>
              <a:t>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Receives system-automated rejection email.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3017520"/>
            <a:ext cx="1737360" cy="640080"/>
          </a:xfrm>
          <a:prstGeom prst="roundRect">
            <a:avLst/>
          </a:prstGeom>
          <a:solidFill>
            <a:srgbClr val="E6F6E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228B22"/>
                </a:solidFill>
                <a:latin typeface="Poppins"/>
              </a:rPr>
              <a:t>Hoping / Relieved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749039"/>
            <a:ext cx="17373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Recruiter ghosting.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Vague canned rejections.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Unscheduled phone calls.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5029200"/>
            <a:ext cx="1737360" cy="1188720"/>
          </a:xfrm>
          <a:prstGeom prst="roundRect">
            <a:avLst/>
          </a:prstGeom>
          <a:solidFill>
            <a:srgbClr val="EBF2F8"/>
          </a:solidFill>
          <a:ln>
            <a:solidFill>
              <a:srgbClr val="DAE2E9"/>
            </a:solidFill>
          </a:ln>
          <a:effectLst>
            <a:outerShdw blurRad="12000" dist="30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In-app calendar scheduling.</a:t>
            </a: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Actionable rejection</a:t>
            </a:r>
            <a:r>
              <a:rPr lang="en-US" sz="800" dirty="0">
                <a:solidFill>
                  <a:srgbClr val="212B36"/>
                </a:solidFill>
                <a:latin typeface="Poppins"/>
              </a:rPr>
              <a:t>.</a:t>
            </a:r>
            <a:endParaRPr sz="800" dirty="0">
              <a:solidFill>
                <a:srgbClr val="212B36"/>
              </a:solidFill>
              <a:latin typeface="Poppins"/>
            </a:endParaRPr>
          </a:p>
          <a:p>
            <a:pPr>
              <a:spcAft>
                <a:spcPts val="400"/>
              </a:spcAft>
            </a:pPr>
            <a:r>
              <a:rPr sz="800" dirty="0">
                <a:solidFill>
                  <a:srgbClr val="212B36"/>
                </a:solidFill>
                <a:latin typeface="Poppins"/>
              </a:rPr>
              <a:t>•  Encouragement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1512</Words>
  <Application>Microsoft Office PowerPoint</Application>
  <PresentationFormat>Widescreen</PresentationFormat>
  <Paragraphs>272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Naik</dc:creator>
  <cp:keywords/>
  <dc:description>generated using python-pptx</dc:description>
  <cp:lastModifiedBy>AryanN</cp:lastModifiedBy>
  <cp:revision>2</cp:revision>
  <dcterms:created xsi:type="dcterms:W3CDTF">2013-01-27T09:14:16Z</dcterms:created>
  <dcterms:modified xsi:type="dcterms:W3CDTF">2026-08-07T08:24:08Z</dcterms:modified>
  <cp:category/>
</cp:coreProperties>
</file>