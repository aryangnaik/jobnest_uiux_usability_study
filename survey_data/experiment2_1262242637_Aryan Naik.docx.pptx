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CFBC3-C4D6-4967-8192-B18DEDEF64EB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FDDDA-6D1A-41CF-AC49-C3004BE047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442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FDDDA-6D1A-41CF-AC49-C3004BE0470B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941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328CC1"/>
                </a:solidFill>
                <a:latin typeface="Poppins"/>
              </a:rPr>
              <a:t>UI/UX CASE STUDY</a:t>
            </a:r>
          </a:p>
          <a:p>
            <a:r>
              <a:rPr sz="2800" b="1">
                <a:solidFill>
                  <a:srgbClr val="FFFFFF"/>
                </a:solidFill>
                <a:latin typeface="Poppins"/>
              </a:rPr>
              <a:t>PORTFOLIO</a:t>
            </a:r>
          </a:p>
          <a:p>
            <a:pPr>
              <a:spcAft>
                <a:spcPts val="2000"/>
              </a:spcAft>
            </a:pPr>
            <a:r>
              <a:rPr sz="2800" b="1">
                <a:solidFill>
                  <a:srgbClr val="FFFFFF"/>
                </a:solidFill>
                <a:latin typeface="Poppins"/>
              </a:rPr>
              <a:t>EVALUATION</a:t>
            </a:r>
          </a:p>
          <a:p>
            <a:r>
              <a:rPr sz="1100">
                <a:solidFill>
                  <a:srgbClr val="DAE2E9"/>
                </a:solidFill>
                <a:latin typeface="Poppins"/>
              </a:rPr>
              <a:t>A detailed interface comparison of Naukri, LinkedIn, and Indeed to optimize modern job search workflows.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0B3C5D"/>
                </a:solidFill>
                <a:latin typeface="Poppins"/>
              </a:rPr>
              <a:t>Job Portal Interface Analysis</a:t>
            </a:r>
          </a:p>
          <a:p>
            <a:r>
              <a:rPr sz="1800" b="1">
                <a:solidFill>
                  <a:srgbClr val="328CC1"/>
                </a:solidFill>
                <a:latin typeface="Poppins"/>
              </a:rPr>
              <a:t>Comparative Study: Naukri.com vs. LinkedIn Jobs vs. Indeed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3840480"/>
            <a:ext cx="6858000" cy="2103120"/>
          </a:xfrm>
          <a:prstGeom prst="roundRect">
            <a:avLst/>
          </a:prstGeom>
          <a:solidFill>
            <a:srgbClr val="EEF3F8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74320" rtlCol="0" anchor="ctr"/>
          <a:lstStyle/>
          <a:p>
            <a:pPr algn="ctr">
              <a:spcAft>
                <a:spcPts val="1000"/>
              </a:spcAft>
            </a:pPr>
            <a:r>
              <a:rPr sz="1100" b="1">
                <a:solidFill>
                  <a:srgbClr val="328CC1"/>
                </a:solidFill>
                <a:latin typeface="Poppins"/>
              </a:rPr>
              <a:t>CANDIDATE PROFILE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Candidate Name:</a:t>
            </a:r>
            <a:r>
              <a:rPr sz="1100">
                <a:solidFill>
                  <a:srgbClr val="212B36"/>
                </a:solidFill>
                <a:latin typeface="Poppins"/>
              </a:rPr>
              <a:t> Aryan Naik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PRN / Roll No:</a:t>
            </a:r>
            <a:r>
              <a:rPr sz="1100">
                <a:solidFill>
                  <a:srgbClr val="212B36"/>
                </a:solidFill>
                <a:latin typeface="Poppins"/>
              </a:rPr>
              <a:t> 1262242637 / Panel F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Domain Area:</a:t>
            </a:r>
            <a:r>
              <a:rPr sz="1100">
                <a:solidFill>
                  <a:srgbClr val="212B36"/>
                </a:solidFill>
                <a:latin typeface="Poppins"/>
              </a:rPr>
              <a:t> Job Portals (UI/UX Analysis)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Academic Year:</a:t>
            </a:r>
            <a:r>
              <a:rPr sz="1100">
                <a:solidFill>
                  <a:srgbClr val="212B36"/>
                </a:solidFill>
                <a:latin typeface="Poppins"/>
              </a:rPr>
              <a:t> 2026-2027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OVERVIEW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B3C5D"/>
                </a:solidFill>
                <a:latin typeface="Poppins"/>
              </a:rPr>
              <a:t>Platforms evolve UI/UX strategies to solve job-seeker information discovery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1274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2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474720" cy="466344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0B3C5D"/>
                </a:solidFill>
                <a:latin typeface="Poppins"/>
              </a:rPr>
              <a:t>The Problem Space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B36"/>
                </a:solidFill>
                <a:latin typeface="Poppins"/>
              </a:rPr>
              <a:t>•  The digital recruitment ecosystem handles millions of diverse job listings, creating immense information density.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B36"/>
                </a:solidFill>
                <a:latin typeface="Poppins"/>
              </a:rPr>
              <a:t>•  Job seekers face significant cognitive fatigue, registration drop-offs, and communication barriers across platforms.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B36"/>
                </a:solidFill>
                <a:latin typeface="Poppins"/>
              </a:rPr>
              <a:t>•  This research critically analyzes interface decisions, focusing purely on UI/UX factors (learnability, visual hierarchy, error prevention) while ignoring backend database and business limitations.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466344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0B3C5D"/>
                </a:solidFill>
                <a:latin typeface="Poppins"/>
              </a:rPr>
              <a:t>Research Objectives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B36"/>
                </a:solidFill>
                <a:latin typeface="Poppins"/>
              </a:rPr>
              <a:t>•  Evaluate the three market leaders—Naukri.com, LinkedIn Jobs, and Indeed—against 18 rigorous UX metrics.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B36"/>
                </a:solidFill>
                <a:latin typeface="Poppins"/>
              </a:rPr>
              <a:t>•  Analyze real-world interactions against Shneiderman's 8 Golden Rules of Interface Design to benchmark accessibility and error control.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B36"/>
                </a:solidFill>
                <a:latin typeface="Poppins"/>
              </a:rPr>
              <a:t>•  Model six distinct user personas (Fresher, Student, Director, etc.) to evaluate how successfully each platform accommodates diverse search expectations.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63040"/>
            <a:ext cx="3474720" cy="4663440"/>
          </a:xfrm>
          <a:prstGeom prst="roundRect">
            <a:avLst/>
          </a:prstGeom>
          <a:solidFill>
            <a:srgbClr val="EEF3F8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0B3C5D"/>
                </a:solidFill>
                <a:latin typeface="Poppins"/>
              </a:rPr>
              <a:t>Analytical Methodology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B36"/>
                </a:solidFill>
                <a:latin typeface="Poppins"/>
              </a:rPr>
              <a:t>•  Interactive walk-throughs across the three portals documenting complete application workflows.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B36"/>
                </a:solidFill>
                <a:latin typeface="Poppins"/>
              </a:rPr>
              <a:t>•  Interface assessment using Heuristic Evaluation principles and accessibility standards.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B36"/>
                </a:solidFill>
                <a:latin typeface="Poppins"/>
              </a:rPr>
              <a:t>•  Comparative mapping: side-by-side matrices contrasting specific UI execution parameters.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B36"/>
                </a:solidFill>
                <a:latin typeface="Poppins"/>
              </a:rPr>
              <a:t>•  User Journey Mapping tracking emotional states, friction, and opportunities across a 6-stage job search lifecycle.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UX FOUNDATIONS &amp;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B3C5D"/>
                </a:solidFill>
                <a:latin typeface="Poppins"/>
              </a:rPr>
              <a:t>LinkedIn outpaces competitors in foundational readability and navigation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1274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3 of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9441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0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oppins"/>
                        </a:rPr>
                        <a:t>UX Parameter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oppins"/>
                        </a:rPr>
                        <a:t>Naukri.com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oppins"/>
                        </a:rPr>
                        <a:t>LinkedIn Jobs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oppins"/>
                        </a:rPr>
                        <a:t>Indeed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oppins"/>
                        </a:rPr>
                        <a:t>Winner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Learnability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7.0/10 - Cluttered landing page with excessive ads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8.5/10 - Fast setup but deep networking tools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9.5/10 - Minimalist 'Google-like' search interface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Indeed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Usability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8.0/10 - Quick applying once setup, but ad heavy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9.0/10 - Seamless profile, direct networking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8.5/10 - Simple search, basic tracking flow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LinkedIn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Consistency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7.0/10 - Legacy registration screens match poorly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9.5/10 - Perfect global brand design guidelines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8.5/10 - Highly consistent but dated interface styling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LinkedIn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Navigation Structure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6.5/10 - Deep, complex submenus; easy to get lost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8.5/10 - Clean sidebar; overlay panel clutter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9.0/10 - Extremely flat, direct menu layout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Indeed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Visual Hierarchy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6.0/10 - Sponsored listings compete with filters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9.0/10 - Distinct content containers &amp; bold CTA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7.5/10 - Standard list, lacks dynamic styling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LinkedIn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Efficiency of Interaction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8.5/10 - Fast one-click apply for resume profiles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9.0/10 - Fast Easy Apply &amp; direct chat links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8.0/10 - Swift click-to-apply; external redirects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LinkedIn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Search &amp; Discoverability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8.0/10 - Strong search but results are ad-heavy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9.0/10 - Granular, precise networking filter logic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8.5/10 - Fast, direct keyword matching engine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LinkedIn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Content Readability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6.5/10 - Small typography, dense listing columns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9.0/10 - Clean Poppins style, ample card spacing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8.0/10 - Clean classified text; dense listing boxes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LinkedIn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Use of Metaphors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7.0/10 - Standard briefcase/folder icon usage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9.0/10 - Natural social network and message metaphors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8.0/10 - Clear row layouts, standard classified tags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LinkedIn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SYSTEM BEHAVIOR, TRUST &amp; AESTHETICS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B3C5D"/>
                </a:solidFill>
                <a:latin typeface="Poppins"/>
              </a:rPr>
              <a:t>Indeed leads in speed and performance while LinkedIn sweeps design and 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1274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4 of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9441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0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oppins"/>
                        </a:rPr>
                        <a:t>UX Parameter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oppins"/>
                        </a:rPr>
                        <a:t>Naukri.com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oppins"/>
                        </a:rPr>
                        <a:t>LinkedIn Jobs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oppins"/>
                        </a:rPr>
                        <a:t>Indeed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Poppins"/>
                        </a:rPr>
                        <a:t>Winner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Accessibility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6.5/10 - Low contrast, weak screen reader labels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9.0/10 - Full WCAG compliance, high visual contrast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8.5/10 - Clean, highly legible, screen reader safe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LinkedIn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Responsiveness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7.5/10 - Cluttered mobile app, heavy web script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9.5/10 - Exceptional uniform cross-device consistency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9.0/10 - Fast mobile app, basic stripped-down web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LinkedIn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Feedback &amp; Status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7.5/10 - Standard application emails, vague views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9.0/10 - Real-time alerts when resume is read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7.0/10 - Opaque tracking dashboard; simple alerts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LinkedIn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Error Prev. &amp; Recovery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7.0/10 - Rigid forms, basic validation blocks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9.0/10 - Prevent incomplete Easy Apply submissions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8.0/10 - Straightforward registration form warning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LinkedIn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Aesthetic/Minimalist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5.0/10 - Heavy, cluttered advertisements &amp; banners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8.5/10 - Professional spacing, clear card groupings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7.0/10 - Clean, but dated and bare classified visual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LinkedIn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Performance Perception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8.0/10 - Fast loading but heavy desktop layout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8.5/10 - Smooth SPA; slow on weak connections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9.5/10 - Instant load, zero heavy graphical weight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Indeed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Trust &amp; Credibility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8.0/10 - High spam calls reported from consulting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9.5/10 - Highly verified recruiters and firms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8.0/10 - High brand trust, some duplicate listings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LinkedIn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Personalization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7.5/10 - Recommends general keywords from logs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9.5/10 - Excellent recommendation social graph AI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7.0/10 - Basic job suggestion from search history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LinkedIn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User Satisfaction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7.0/10 - High transaction, frustrating UI clutter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9.0/10 - Highly rated, integrates work/network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8.0/10 - Appreciated for simplicity and speed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28CC1"/>
                          </a:solidFill>
                          <a:latin typeface="Poppins"/>
                        </a:rPr>
                        <a:t>LinkedIn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HEURISTIC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B3C5D"/>
                </a:solidFill>
                <a:latin typeface="Poppins"/>
              </a:rPr>
              <a:t>LinkedIn leads heuristic compliance while Naukri compromises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1274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5 of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9441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1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Poppins"/>
                        </a:rPr>
                        <a:t>Shneiderman's Golden Rule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Poppins"/>
                        </a:rPr>
                        <a:t>Naukri.com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Poppins"/>
                        </a:rPr>
                        <a:t>LinkedIn Jobs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Poppins"/>
                        </a:rPr>
                        <a:t>Indeed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1. Strive for Consistency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Inconsistent. Legacy screens mix with new dashboards.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Very High. Shared 'Art Deco' design language on all pages.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High. Simple layout, extremely consistent text styling.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2. Universal Usability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Medium. Multi-lingual support but overwhelming visual noise.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High. Accessible features, high contrast, text scaling.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Very High. Stripped-down interface is highly universal.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3. Informative Feedback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Good application confirmations; recruiter views opaque.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Excellent. Real-time feedback on views and downloads.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Basic. Opaque recruiter feedback; standard emails.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4. Dialogs to Yield Closure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Clear confirmation screen but ads break final flow.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Seamless end-to-end confirmation with networking tips.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Straightforward apply with classic thank-you prompt.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5. Prevent Errors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Warns about missing attachments; high validation.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Alerts users of incomplete Easy Apply inputs.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Basic validation; occasionally allows submission errors.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6. Permit Reversal of Actions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Hard to retrieve custom responses; withdrawing is buried.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Easy one-click job application withdrawal.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Vague withdraw options; applications mostly final.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7. Keep Users in Control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Poor. Forced sponsored listings and persistent ads.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Excellent. Granular search and feed curation tools.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High. Complete lack of popups keeps user in focus.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12B36"/>
                          </a:solidFill>
                          <a:latin typeface="Poppins"/>
                        </a:rPr>
                        <a:t>8. Reduce Memory Load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Poor. Heavy advertising and banners cause visual fatigue.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Excellent. Profile caching minimizes repetitive data inputs.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12B36"/>
                          </a:solidFill>
                          <a:latin typeface="Poppins"/>
                        </a:rPr>
                        <a:t>High. Direct listing page matches classic classified format.</a:t>
                      </a:r>
                    </a:p>
                  </a:txBody>
                  <a:tcPr marL="76200" marR="76200" marT="50800" marB="50800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HEURISTIC ANALYSIS &amp;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B3C5D"/>
                </a:solidFill>
                <a:latin typeface="Poppins"/>
              </a:rPr>
              <a:t>Critical heuristic breakdown reveals Naukri.com's distinct design trade-offs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1274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6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291840" cy="4663440"/>
          </a:xfrm>
          <a:prstGeom prst="roundRect">
            <a:avLst/>
          </a:prstGeom>
          <a:solidFill>
            <a:srgbClr val="0D55AC"/>
          </a:solidFill>
          <a:ln>
            <a:noFill/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0" rtlCol="0" anchor="ctr"/>
          <a:lstStyle/>
          <a:p>
            <a:pPr algn="ctr">
              <a:spcAft>
                <a:spcPts val="2000"/>
              </a:spcAft>
            </a:pPr>
            <a:r>
              <a:rPr sz="2800" b="1">
                <a:solidFill>
                  <a:srgbClr val="FFFFFF"/>
                </a:solidFill>
                <a:latin typeface="Poppins"/>
              </a:rPr>
              <a:t>NAUKRI.COM</a:t>
            </a:r>
          </a:p>
          <a:p>
            <a:pPr algn="ctr">
              <a:spcAft>
                <a:spcPts val="500"/>
              </a:spcAft>
            </a:pPr>
            <a:r>
              <a:rPr sz="1100">
                <a:solidFill>
                  <a:srgbClr val="DAE2E9"/>
                </a:solidFill>
                <a:latin typeface="Poppins"/>
              </a:rPr>
              <a:t>OVERALL HEURISTIC SCORE</a:t>
            </a:r>
          </a:p>
          <a:p>
            <a:pPr algn="ctr"/>
            <a:r>
              <a:rPr sz="5400" b="1">
                <a:solidFill>
                  <a:srgbClr val="FFFFFF"/>
                </a:solidFill>
                <a:latin typeface="Poppins"/>
              </a:rPr>
              <a:t>7.1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463040"/>
            <a:ext cx="3657600" cy="466344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50" b="1">
                <a:solidFill>
                  <a:srgbClr val="0B3C5D"/>
                </a:solidFill>
                <a:latin typeface="Poppins"/>
              </a:rPr>
              <a:t>Key UX Strengths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✔  High Interaction Efficiency: One-click application process speeds up daily submissions.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✔  Profile Caching: Remembers candidate credentials and multiple resumes effectively.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✔  Recruiter Volume: High recruiter presence in India ensures rapid connection opportunities.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63040"/>
            <a:ext cx="3657600" cy="4663440"/>
          </a:xfrm>
          <a:prstGeom prst="roundRect">
            <a:avLst/>
          </a:prstGeom>
          <a:solidFill>
            <a:srgbClr val="EEF3F8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50" b="1">
                <a:solidFill>
                  <a:srgbClr val="0B3C5D"/>
                </a:solidFill>
                <a:latin typeface="Poppins"/>
              </a:rPr>
              <a:t>Key UX Weaknesses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✖  Extremely Cluttered: Dense, ads-heavy homepage causes high cognitive load.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✖  Inconsistent UI Design: Standard forms and legacy settings pages mismatch.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✖  Spam Protection Failures: High rate of spam consultant outreach reported by users.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HEURISTIC ANALYSIS &amp;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B3C5D"/>
                </a:solidFill>
                <a:latin typeface="Poppins"/>
              </a:rPr>
              <a:t>Critical heuristic breakdown reveals LinkedIn Jobs's distinct design trade-offs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1274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7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291840" cy="4663440"/>
          </a:xfrm>
          <a:prstGeom prst="roundRect">
            <a:avLst/>
          </a:prstGeom>
          <a:solidFill>
            <a:srgbClr val="0A66C2"/>
          </a:solidFill>
          <a:ln>
            <a:noFill/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0" rtlCol="0" anchor="ctr"/>
          <a:lstStyle/>
          <a:p>
            <a:pPr algn="ctr">
              <a:spcAft>
                <a:spcPts val="2000"/>
              </a:spcAft>
            </a:pPr>
            <a:r>
              <a:rPr sz="2800" b="1">
                <a:solidFill>
                  <a:srgbClr val="FFFFFF"/>
                </a:solidFill>
                <a:latin typeface="Poppins"/>
              </a:rPr>
              <a:t>LINKEDIN JOBS</a:t>
            </a:r>
          </a:p>
          <a:p>
            <a:pPr algn="ctr">
              <a:spcAft>
                <a:spcPts val="500"/>
              </a:spcAft>
            </a:pPr>
            <a:r>
              <a:rPr sz="1100">
                <a:solidFill>
                  <a:srgbClr val="DAE2E9"/>
                </a:solidFill>
                <a:latin typeface="Poppins"/>
              </a:rPr>
              <a:t>OVERALL HEURISTIC SCORE</a:t>
            </a:r>
          </a:p>
          <a:p>
            <a:pPr algn="ctr"/>
            <a:r>
              <a:rPr sz="5400" b="1">
                <a:solidFill>
                  <a:srgbClr val="FFFFFF"/>
                </a:solidFill>
                <a:latin typeface="Poppins"/>
              </a:rPr>
              <a:t>9.1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463040"/>
            <a:ext cx="3657600" cy="466344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50" b="1">
                <a:solidFill>
                  <a:srgbClr val="0B3C5D"/>
                </a:solidFill>
                <a:latin typeface="Poppins"/>
              </a:rPr>
              <a:t>Key UX Strengths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✔  Premium Aesthetic: Clean, modern cards with clear visual containers.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✔  Excellent Feedback &amp; Status: Instant push alerts when recruiters view or download CVs.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✔  Powerful Personalization: AI recommendations integrate user's professional connections.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63040"/>
            <a:ext cx="3657600" cy="4663440"/>
          </a:xfrm>
          <a:prstGeom prst="roundRect">
            <a:avLst/>
          </a:prstGeom>
          <a:solidFill>
            <a:srgbClr val="EEF3F8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50" b="1">
                <a:solidFill>
                  <a:srgbClr val="0B3C5D"/>
                </a:solidFill>
                <a:latin typeface="Poppins"/>
              </a:rPr>
              <a:t>Key UX Weaknesses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✖  Interface Bloat: Dynamic feed and messaging overlay can distract job seekers.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✖  SPA Performance Delays: Heavy Single-Page Application features lag on low-bandwidth networks.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✖  Paywall Friction: Job market analytics and direct message features restricted by LinkedIn Premium.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HEURISTIC ANALYSIS &amp;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B3C5D"/>
                </a:solidFill>
                <a:latin typeface="Poppins"/>
              </a:rPr>
              <a:t>Critical heuristic breakdown reveals Indeed's distinct design trade-offs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1274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8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291840" cy="4663440"/>
          </a:xfrm>
          <a:prstGeom prst="roundRect">
            <a:avLst/>
          </a:prstGeom>
          <a:solidFill>
            <a:srgbClr val="2557E0"/>
          </a:solidFill>
          <a:ln>
            <a:noFill/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0" rtlCol="0" anchor="ctr"/>
          <a:lstStyle/>
          <a:p>
            <a:pPr algn="ctr">
              <a:spcAft>
                <a:spcPts val="2000"/>
              </a:spcAft>
            </a:pPr>
            <a:r>
              <a:rPr sz="2800" b="1">
                <a:solidFill>
                  <a:srgbClr val="FFFFFF"/>
                </a:solidFill>
                <a:latin typeface="Poppins"/>
              </a:rPr>
              <a:t>INDEED</a:t>
            </a:r>
          </a:p>
          <a:p>
            <a:pPr algn="ctr">
              <a:spcAft>
                <a:spcPts val="500"/>
              </a:spcAft>
            </a:pPr>
            <a:r>
              <a:rPr sz="1100">
                <a:solidFill>
                  <a:srgbClr val="DAE2E9"/>
                </a:solidFill>
                <a:latin typeface="Poppins"/>
              </a:rPr>
              <a:t>OVERALL HEURISTIC SCORE</a:t>
            </a:r>
          </a:p>
          <a:p>
            <a:pPr algn="ctr"/>
            <a:r>
              <a:rPr sz="5400" b="1">
                <a:solidFill>
                  <a:srgbClr val="FFFFFF"/>
                </a:solidFill>
                <a:latin typeface="Poppins"/>
              </a:rPr>
              <a:t>8.3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463040"/>
            <a:ext cx="3657600" cy="466344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50" b="1">
                <a:solidFill>
                  <a:srgbClr val="0B3C5D"/>
                </a:solidFill>
                <a:latin typeface="Poppins"/>
              </a:rPr>
              <a:t>Key UX Strengths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✔  Outstanding Learnability: Barebones search interface resembling standard web browsers.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✔  Excellent Performance: Blazing fast load times due to zero graphical clutter.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✔  Flat Navigation Structure: Extremely flat hierarchy makes navigation simple.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63040"/>
            <a:ext cx="3657600" cy="4663440"/>
          </a:xfrm>
          <a:prstGeom prst="roundRect">
            <a:avLst/>
          </a:prstGeom>
          <a:solidFill>
            <a:srgbClr val="EEF3F8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50" b="1">
                <a:solidFill>
                  <a:srgbClr val="0B3C5D"/>
                </a:solidFill>
                <a:latin typeface="Poppins"/>
              </a:rPr>
              <a:t>Key UX Weaknesses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✖  Dated Classified Visuals: Minimalist but uninspiring layout reminiscent of 2010 websites.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✖  Lack of Recruiter Engagement: No path for direct candidate-recruiter messaging.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B36"/>
                </a:solidFill>
                <a:latin typeface="Poppins"/>
              </a:rPr>
              <a:t>✖  Basic Tracking Tools: Lacks dynamic progress tracking; status reports are mostly finalized.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</a:pPr>
            <a:r>
              <a:rPr sz="1400" b="1">
                <a:solidFill>
                  <a:srgbClr val="328CC1"/>
                </a:solidFill>
                <a:latin typeface="Poppins"/>
              </a:rPr>
              <a:t>SECTION TWO</a:t>
            </a:r>
          </a:p>
          <a:p>
            <a:pPr algn="ctr">
              <a:spcAft>
                <a:spcPts val="1000"/>
              </a:spcAft>
            </a:pPr>
            <a:r>
              <a:rPr sz="3800" b="1">
                <a:solidFill>
                  <a:srgbClr val="FFFFFF"/>
                </a:solidFill>
                <a:latin typeface="Poppins"/>
              </a:rPr>
              <a:t>USER PERSONA PROFILES</a:t>
            </a:r>
          </a:p>
          <a:p>
            <a:pPr algn="ctr"/>
            <a:r>
              <a:rPr sz="1400">
                <a:solidFill>
                  <a:srgbClr val="DAE2E9"/>
                </a:solidFill>
                <a:latin typeface="Poppins"/>
              </a:rPr>
              <a:t>A detailed, structured representation of six distinct target user personas within the job portal ecosystem.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USER PERSONA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B3C5D"/>
                </a:solidFill>
                <a:latin typeface="Poppins"/>
              </a:rPr>
              <a:t>1. The Final-Year Student – Eager to Break Into Tech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1274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10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291840" cy="4663440"/>
          </a:xfrm>
          <a:prstGeom prst="roundRect">
            <a:avLst/>
          </a:prstGeom>
          <a:solidFill>
            <a:srgbClr val="EEF3F8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91640" y="1554480"/>
            <a:ext cx="1005840" cy="1005840"/>
          </a:xfrm>
          <a:prstGeom prst="ellipse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Poppins"/>
              </a:rPr>
              <a:t>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31089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B3C5D"/>
                </a:solidFill>
                <a:latin typeface="Poppins"/>
              </a:rPr>
              <a:t>Aarav Patel</a:t>
            </a:r>
          </a:p>
          <a:p>
            <a:pPr algn="ctr">
              <a:spcAft>
                <a:spcPts val="1200"/>
              </a:spcAft>
            </a:pPr>
            <a:r>
              <a:rPr sz="1100" b="1">
                <a:solidFill>
                  <a:srgbClr val="328CC1"/>
                </a:solidFill>
                <a:latin typeface="Poppins"/>
              </a:rPr>
              <a:t>B.Tech Computer Science Senior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Age:</a:t>
            </a:r>
            <a:r>
              <a:rPr sz="1000">
                <a:solidFill>
                  <a:srgbClr val="212B36"/>
                </a:solidFill>
                <a:latin typeface="Poppins"/>
              </a:rPr>
              <a:t> 21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Location:</a:t>
            </a:r>
            <a:r>
              <a:rPr sz="1000">
                <a:solidFill>
                  <a:srgbClr val="212B36"/>
                </a:solidFill>
                <a:latin typeface="Poppins"/>
              </a:rPr>
              <a:t> Mumbai, Maharashtra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Education:</a:t>
            </a:r>
            <a:r>
              <a:rPr sz="1000">
                <a:solidFill>
                  <a:srgbClr val="212B36"/>
                </a:solidFill>
                <a:latin typeface="Poppins"/>
              </a:rPr>
              <a:t> IIT Bombay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2926080" cy="1188720"/>
          </a:xfrm>
          <a:prstGeom prst="roundRect">
            <a:avLst/>
          </a:prstGeom>
          <a:solidFill>
            <a:srgbClr val="E0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950" i="1">
                <a:solidFill>
                  <a:srgbClr val="0B3C5D"/>
                </a:solidFill>
                <a:latin typeface="Poppins"/>
              </a:rPr>
              <a:t>"I want structured, entry-level tech opportunities without getting filtered out by corporate algorithmic bottlenecks."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371600"/>
            <a:ext cx="3749039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CAREER &amp; UX GOALS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Find verified technology internships and full-time SDE roles.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Highlight university projects and technical hackathon wins.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Establish industry contacts through professional networking.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3794760"/>
            <a:ext cx="3749039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PAIN POINTS &amp; FRUSTRATIONS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Entry-level jobs requiring 2+ years of prior working experience.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Inability to easily showcase GitHub projects directly in listings.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Complete lack of response (ghosting) on standard cold applications.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371600"/>
            <a:ext cx="3657600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KEY SEARCH BEHAVIORS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Filters jobs strictly by 'Internship' and 'Entry-Level' tags.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Leverages university alumni connections on LinkedIn.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Applies to 3-5 selected, highly-researched positions daily.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794760"/>
            <a:ext cx="3657600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39319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B3C5D"/>
                </a:solidFill>
                <a:latin typeface="Poppins"/>
              </a:rPr>
              <a:t>PLATFORM PREFERENCES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1330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LinkedIn Jobs (90% Usage)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43891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183879" y="4389120"/>
            <a:ext cx="2880360" cy="164592"/>
          </a:xfrm>
          <a:prstGeom prst="round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3879" y="45902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Naukri.com (45% Usage)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48463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183879" y="4846320"/>
            <a:ext cx="1440180" cy="164592"/>
          </a:xfrm>
          <a:prstGeom prst="roundRect">
            <a:avLst/>
          </a:prstGeom>
          <a:solidFill>
            <a:srgbClr val="0D55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83879" y="50474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Indeed (30% Usage)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53035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183879" y="5303520"/>
            <a:ext cx="960120" cy="164592"/>
          </a:xfrm>
          <a:prstGeom prst="roundRect">
            <a:avLst/>
          </a:prstGeom>
          <a:solidFill>
            <a:srgbClr val="255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USER PERSONA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B3C5D"/>
                </a:solidFill>
                <a:latin typeface="Poppins"/>
              </a:rPr>
              <a:t>2. The Working Professional – Seeking Quality Career Transition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1274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11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291840" cy="4663440"/>
          </a:xfrm>
          <a:prstGeom prst="roundRect">
            <a:avLst/>
          </a:prstGeom>
          <a:solidFill>
            <a:srgbClr val="EEF3F8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91640" y="1554480"/>
            <a:ext cx="1005840" cy="1005840"/>
          </a:xfrm>
          <a:prstGeom prst="ellipse">
            <a:avLst/>
          </a:prstGeom>
          <a:solidFill>
            <a:srgbClr val="0B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Poppins"/>
              </a:rPr>
              <a:t>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31089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B3C5D"/>
                </a:solidFill>
                <a:latin typeface="Poppins"/>
              </a:rPr>
              <a:t>Priya Sharma</a:t>
            </a:r>
          </a:p>
          <a:p>
            <a:pPr algn="ctr">
              <a:spcAft>
                <a:spcPts val="1200"/>
              </a:spcAft>
            </a:pPr>
            <a:r>
              <a:rPr sz="1100" b="1">
                <a:solidFill>
                  <a:srgbClr val="328CC1"/>
                </a:solidFill>
                <a:latin typeface="Poppins"/>
              </a:rPr>
              <a:t>Mid-Level UI/UX Designer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Age:</a:t>
            </a:r>
            <a:r>
              <a:rPr sz="1000">
                <a:solidFill>
                  <a:srgbClr val="212B36"/>
                </a:solidFill>
                <a:latin typeface="Poppins"/>
              </a:rPr>
              <a:t> 26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Location:</a:t>
            </a:r>
            <a:r>
              <a:rPr sz="1000">
                <a:solidFill>
                  <a:srgbClr val="212B36"/>
                </a:solidFill>
                <a:latin typeface="Poppins"/>
              </a:rPr>
              <a:t> Bengaluru, Karnataka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Education:</a:t>
            </a:r>
            <a:r>
              <a:rPr sz="1000">
                <a:solidFill>
                  <a:srgbClr val="212B36"/>
                </a:solidFill>
                <a:latin typeface="Poppins"/>
              </a:rPr>
              <a:t> National Institute of Design (NID)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2926080" cy="1188720"/>
          </a:xfrm>
          <a:prstGeom prst="roundRect">
            <a:avLst/>
          </a:prstGeom>
          <a:solidFill>
            <a:srgbClr val="E0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950" i="1">
                <a:solidFill>
                  <a:srgbClr val="0B3C5D"/>
                </a:solidFill>
                <a:latin typeface="Poppins"/>
              </a:rPr>
              <a:t>"I need a transparent platform to evaluate company culture, work-life balance, and direct UI/UX leadership team roles."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371600"/>
            <a:ext cx="3749039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CAREER &amp; UX GOALS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Secure senior-level design role in product-centric company.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Filter for remote or hybrid flexible working arrangements.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Analyze company employee satisfaction ratings before applying.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3794760"/>
            <a:ext cx="3749039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PAIN POINTS &amp; FRUSTRATIONS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Vague salary ranges and missing work-location terms.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Inability to attach portfolio links cleanly in quick-apply forms.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Receiving irrelevant calls from high-volume third-party recruitment agencies.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371600"/>
            <a:ext cx="3657600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KEY SEARCH BEHAVIORS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Researches company pages and employee networks on LinkedIn.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Prefers 'Easy Apply' gates but bypasses listings without clear details.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Configures granular email notifications for specific product design roles.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794760"/>
            <a:ext cx="3657600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39319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B3C5D"/>
                </a:solidFill>
                <a:latin typeface="Poppins"/>
              </a:rPr>
              <a:t>PLATFORM PREFERENCES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1330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LinkedIn Jobs (95% Usage)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43891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183879" y="4389120"/>
            <a:ext cx="3040380" cy="164592"/>
          </a:xfrm>
          <a:prstGeom prst="round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3879" y="45902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Indeed (50% Usage)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48463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183879" y="4846320"/>
            <a:ext cx="1600200" cy="164592"/>
          </a:xfrm>
          <a:prstGeom prst="roundRect">
            <a:avLst/>
          </a:prstGeom>
          <a:solidFill>
            <a:srgbClr val="255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83879" y="50474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Naukri.com (20% Usage)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53035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183879" y="5303520"/>
            <a:ext cx="640080" cy="164592"/>
          </a:xfrm>
          <a:prstGeom prst="roundRect">
            <a:avLst/>
          </a:prstGeom>
          <a:solidFill>
            <a:srgbClr val="0D55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USER PERSONA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B3C5D"/>
                </a:solidFill>
                <a:latin typeface="Poppins"/>
              </a:rPr>
              <a:t>3. The Career Switcher – Navigating Domain Transition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1274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12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291840" cy="4663440"/>
          </a:xfrm>
          <a:prstGeom prst="roundRect">
            <a:avLst/>
          </a:prstGeom>
          <a:solidFill>
            <a:srgbClr val="EEF3F8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91640" y="1554480"/>
            <a:ext cx="1005840" cy="1005840"/>
          </a:xfrm>
          <a:prstGeom prst="ellipse">
            <a:avLst/>
          </a:prstGeom>
          <a:solidFill>
            <a:srgbClr val="0D55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Poppins"/>
              </a:rPr>
              <a:t>AV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31089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B3C5D"/>
                </a:solidFill>
                <a:latin typeface="Poppins"/>
              </a:rPr>
              <a:t>Amit Verma</a:t>
            </a:r>
          </a:p>
          <a:p>
            <a:pPr algn="ctr">
              <a:spcAft>
                <a:spcPts val="1200"/>
              </a:spcAft>
            </a:pPr>
            <a:r>
              <a:rPr sz="1100" b="1">
                <a:solidFill>
                  <a:srgbClr val="328CC1"/>
                </a:solidFill>
                <a:latin typeface="Poppins"/>
              </a:rPr>
              <a:t>Marketing Associate (Switching to PM)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Age:</a:t>
            </a:r>
            <a:r>
              <a:rPr sz="1000">
                <a:solidFill>
                  <a:srgbClr val="212B36"/>
                </a:solidFill>
                <a:latin typeface="Poppins"/>
              </a:rPr>
              <a:t> 31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Location:</a:t>
            </a:r>
            <a:r>
              <a:rPr sz="1000">
                <a:solidFill>
                  <a:srgbClr val="212B36"/>
                </a:solidFill>
                <a:latin typeface="Poppins"/>
              </a:rPr>
              <a:t> Delhi NCR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Education:</a:t>
            </a:r>
            <a:r>
              <a:rPr sz="1000">
                <a:solidFill>
                  <a:srgbClr val="212B36"/>
                </a:solidFill>
                <a:latin typeface="Poppins"/>
              </a:rPr>
              <a:t> Delhi University (B.Com)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2926080" cy="1188720"/>
          </a:xfrm>
          <a:prstGeom prst="roundRect">
            <a:avLst/>
          </a:prstGeom>
          <a:solidFill>
            <a:srgbClr val="E0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950" i="1">
                <a:solidFill>
                  <a:srgbClr val="0B3C5D"/>
                </a:solidFill>
                <a:latin typeface="Poppins"/>
              </a:rPr>
              <a:t>"I need to highlight transferable leadership skills and certifications so recruitment algorithms don't auto-reject my profile."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371600"/>
            <a:ext cx="3749039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CAREER &amp; UX GOALS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Transition into entry-level Product Owner or PM roles.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Highlight active product certifications and side projects.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Identify hiring managers who value diverse domain backgrounds.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3794760"/>
            <a:ext cx="3749039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PAIN POINTS &amp; FRUSTRATIONS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Resume parsing filters that instantly auto-reject candidates without specific titles.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Vague job postings with conflicting skills checklists.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Lack of constructive feedback explaining application rejections.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371600"/>
            <a:ext cx="3657600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KEY SEARCH BEHAVIORS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Builds tailored cover letters emphasizing transferable skills.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Directly messages hiring managers on LinkedIn to pitches qualifications.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Subscribes to professional job alert digests to identify new listings early.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794760"/>
            <a:ext cx="3657600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39319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B3C5D"/>
                </a:solidFill>
                <a:latin typeface="Poppins"/>
              </a:rPr>
              <a:t>PLATFORM PREFERENCES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1330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LinkedIn Jobs (85% Usage)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43891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183879" y="4389120"/>
            <a:ext cx="2720340" cy="164592"/>
          </a:xfrm>
          <a:prstGeom prst="round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3879" y="45902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Naukri.com (70% Usage)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48463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183879" y="4846320"/>
            <a:ext cx="2240280" cy="164592"/>
          </a:xfrm>
          <a:prstGeom prst="roundRect">
            <a:avLst/>
          </a:prstGeom>
          <a:solidFill>
            <a:srgbClr val="0D55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83879" y="50474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Indeed (50% Usage)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53035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183879" y="5303520"/>
            <a:ext cx="1600200" cy="164592"/>
          </a:xfrm>
          <a:prstGeom prst="roundRect">
            <a:avLst/>
          </a:prstGeom>
          <a:solidFill>
            <a:srgbClr val="255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USER PERSONA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B3C5D"/>
                </a:solidFill>
                <a:latin typeface="Poppins"/>
              </a:rPr>
              <a:t>4. The Hungry Fresher – Searching for Volume Opportunities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1274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13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291840" cy="4663440"/>
          </a:xfrm>
          <a:prstGeom prst="roundRect">
            <a:avLst/>
          </a:prstGeom>
          <a:solidFill>
            <a:srgbClr val="EEF3F8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91640" y="1554480"/>
            <a:ext cx="1005840" cy="1005840"/>
          </a:xfrm>
          <a:prstGeom prst="ellipse">
            <a:avLst/>
          </a:prstGeom>
          <a:solidFill>
            <a:srgbClr val="255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Poppins"/>
              </a:rPr>
              <a:t>SR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31089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B3C5D"/>
                </a:solidFill>
                <a:latin typeface="Poppins"/>
              </a:rPr>
              <a:t>Sneha Reddy</a:t>
            </a:r>
          </a:p>
          <a:p>
            <a:pPr algn="ctr">
              <a:spcAft>
                <a:spcPts val="1200"/>
              </a:spcAft>
            </a:pPr>
            <a:r>
              <a:rPr sz="1100" b="1">
                <a:solidFill>
                  <a:srgbClr val="328CC1"/>
                </a:solidFill>
                <a:latin typeface="Poppins"/>
              </a:rPr>
              <a:t>Recent MBA Graduate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Age:</a:t>
            </a:r>
            <a:r>
              <a:rPr sz="1000">
                <a:solidFill>
                  <a:srgbClr val="212B36"/>
                </a:solidFill>
                <a:latin typeface="Poppins"/>
              </a:rPr>
              <a:t> 22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Location:</a:t>
            </a:r>
            <a:r>
              <a:rPr sz="1000">
                <a:solidFill>
                  <a:srgbClr val="212B36"/>
                </a:solidFill>
                <a:latin typeface="Poppins"/>
              </a:rPr>
              <a:t> Hyderabad, Telangana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Education:</a:t>
            </a:r>
            <a:r>
              <a:rPr sz="1000">
                <a:solidFill>
                  <a:srgbClr val="212B36"/>
                </a:solidFill>
                <a:latin typeface="Poppins"/>
              </a:rPr>
              <a:t> Osmania University (MBA)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2926080" cy="1188720"/>
          </a:xfrm>
          <a:prstGeom prst="roundRect">
            <a:avLst/>
          </a:prstGeom>
          <a:solidFill>
            <a:srgbClr val="E0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950" i="1">
                <a:solidFill>
                  <a:srgbClr val="0B3C5D"/>
                </a:solidFill>
                <a:latin typeface="Poppins"/>
              </a:rPr>
              <a:t>"I want a simple, rapid system to apply to multiple business analyst roles and secure interviews quickly."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371600"/>
            <a:ext cx="3749039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CAREER &amp; UX GOALS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Secure immediate employment as a junior business analyst.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Gain corporate visibility and interview experience.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Identify high-volume recruitment drives and walk-in hiring events.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3794760"/>
            <a:ext cx="3749039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PAIN POINTS &amp; FRUSTRATIONS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Extremely long, repetitive multi-page registration profiles.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Unpaid internship listings posing as full-time fresher positions.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Difficulty standing out among thousands of applicants on massive boards.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371600"/>
            <a:ext cx="3657600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KEY SEARCH BEHAVIORS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Maintains a daily checklist of 20+ applications across platforms.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Uploads basic resume to major portals and relies on bulk-matching emails.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Actively tracks walking-drive notifications and bulk-hiring calls.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794760"/>
            <a:ext cx="3657600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39319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B3C5D"/>
                </a:solidFill>
                <a:latin typeface="Poppins"/>
              </a:rPr>
              <a:t>PLATFORM PREFERENCES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1330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Naukri.com (90% Usage)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43891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183879" y="4389120"/>
            <a:ext cx="2880360" cy="164592"/>
          </a:xfrm>
          <a:prstGeom prst="roundRect">
            <a:avLst/>
          </a:prstGeom>
          <a:solidFill>
            <a:srgbClr val="0D55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3879" y="45902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Indeed (80% Usage)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48463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183879" y="4846320"/>
            <a:ext cx="2560320" cy="164592"/>
          </a:xfrm>
          <a:prstGeom prst="roundRect">
            <a:avLst/>
          </a:prstGeom>
          <a:solidFill>
            <a:srgbClr val="255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83879" y="50474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LinkedIn Jobs (50% Usage)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53035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183879" y="5303520"/>
            <a:ext cx="1600200" cy="164592"/>
          </a:xfrm>
          <a:prstGeom prst="round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USER PERSONA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B3C5D"/>
                </a:solidFill>
                <a:latin typeface="Poppins"/>
              </a:rPr>
              <a:t>5. The Experienced Manager – Confidential Leadership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1274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14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291840" cy="4663440"/>
          </a:xfrm>
          <a:prstGeom prst="roundRect">
            <a:avLst/>
          </a:prstGeom>
          <a:solidFill>
            <a:srgbClr val="EEF3F8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91640" y="1554480"/>
            <a:ext cx="1005840" cy="1005840"/>
          </a:xfrm>
          <a:prstGeom prst="ellipse">
            <a:avLst/>
          </a:prstGeom>
          <a:solidFill>
            <a:srgbClr val="07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Poppins"/>
              </a:rPr>
              <a:t>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31089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B3C5D"/>
                </a:solidFill>
                <a:latin typeface="Poppins"/>
              </a:rPr>
              <a:t>Vikram Malhotra</a:t>
            </a:r>
          </a:p>
          <a:p>
            <a:pPr algn="ctr">
              <a:spcAft>
                <a:spcPts val="1200"/>
              </a:spcAft>
            </a:pPr>
            <a:r>
              <a:rPr sz="1100" b="1">
                <a:solidFill>
                  <a:srgbClr val="328CC1"/>
                </a:solidFill>
                <a:latin typeface="Poppins"/>
              </a:rPr>
              <a:t>Engineering Director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Age:</a:t>
            </a:r>
            <a:r>
              <a:rPr sz="1000">
                <a:solidFill>
                  <a:srgbClr val="212B36"/>
                </a:solidFill>
                <a:latin typeface="Poppins"/>
              </a:rPr>
              <a:t> 42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Location:</a:t>
            </a:r>
            <a:r>
              <a:rPr sz="1000">
                <a:solidFill>
                  <a:srgbClr val="212B36"/>
                </a:solidFill>
                <a:latin typeface="Poppins"/>
              </a:rPr>
              <a:t> Pune, Maharashtra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Education:</a:t>
            </a:r>
            <a:r>
              <a:rPr sz="1000">
                <a:solidFill>
                  <a:srgbClr val="212B36"/>
                </a:solidFill>
                <a:latin typeface="Poppins"/>
              </a:rPr>
              <a:t> COEP (B.E.), IIM Bangalore (Executive MBA)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2926080" cy="1188720"/>
          </a:xfrm>
          <a:prstGeom prst="roundRect">
            <a:avLst/>
          </a:prstGeom>
          <a:solidFill>
            <a:srgbClr val="E0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950" i="1">
                <a:solidFill>
                  <a:srgbClr val="0B3C5D"/>
                </a:solidFill>
                <a:latin typeface="Poppins"/>
              </a:rPr>
              <a:t>"I require a confidential, secure search experience to assess top-tier executive roles without alerting my current firm."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371600"/>
            <a:ext cx="3749039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CAREER &amp; UX GOALS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Transition to VP of Engineering or CTO positions.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Maintain complete profile confidentiality and privacy control.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Establish connections with leading executive search consultants.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3794760"/>
            <a:ext cx="3749039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PAIN POINTS &amp; FRUSTRATIONS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Unsolicited outreach from third-party headhunters offering mid-level roles.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Lack of granular control over who can view current employment status.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Inability to filter out low-quality listings or poorly defined roles.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371600"/>
            <a:ext cx="3657600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KEY SEARCH BEHAVIORS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Uses LinkedIn Premium 'Private Mode' to safely research target firms.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Relies on direct executive outreach and professional references.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Keeps resume profile mostly confidential and avoids broad public posting.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794760"/>
            <a:ext cx="3657600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39319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B3C5D"/>
                </a:solidFill>
                <a:latin typeface="Poppins"/>
              </a:rPr>
              <a:t>PLATFORM PREFERENCES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1330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LinkedIn Jobs (95% Usage)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43891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183879" y="4389120"/>
            <a:ext cx="3040380" cy="164592"/>
          </a:xfrm>
          <a:prstGeom prst="round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3879" y="45902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Naukri.com (15% Usage)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48463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183879" y="4846320"/>
            <a:ext cx="480060" cy="164592"/>
          </a:xfrm>
          <a:prstGeom prst="roundRect">
            <a:avLst/>
          </a:prstGeom>
          <a:solidFill>
            <a:srgbClr val="0D55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83879" y="50474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Indeed (5% Usage)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53035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USER PERSONA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B3C5D"/>
                </a:solidFill>
                <a:latin typeface="Poppins"/>
              </a:rPr>
              <a:t>6. The Remote Job Seeker – Focused on Flexibility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1274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15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291840" cy="4663440"/>
          </a:xfrm>
          <a:prstGeom prst="roundRect">
            <a:avLst/>
          </a:prstGeom>
          <a:solidFill>
            <a:srgbClr val="EEF3F8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91640" y="1554480"/>
            <a:ext cx="1005840" cy="10058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Poppins"/>
              </a:rPr>
              <a:t>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31089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B3C5D"/>
                </a:solidFill>
                <a:latin typeface="Poppins"/>
              </a:rPr>
              <a:t>Neha Das</a:t>
            </a:r>
          </a:p>
          <a:p>
            <a:pPr algn="ctr">
              <a:spcAft>
                <a:spcPts val="1200"/>
              </a:spcAft>
            </a:pPr>
            <a:r>
              <a:rPr sz="1100" b="1">
                <a:solidFill>
                  <a:srgbClr val="328CC1"/>
                </a:solidFill>
                <a:latin typeface="Poppins"/>
              </a:rPr>
              <a:t>Remote Content Strategist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Age:</a:t>
            </a:r>
            <a:r>
              <a:rPr sz="1000">
                <a:solidFill>
                  <a:srgbClr val="212B36"/>
                </a:solidFill>
                <a:latin typeface="Poppins"/>
              </a:rPr>
              <a:t> 28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Location:</a:t>
            </a:r>
            <a:r>
              <a:rPr sz="1000">
                <a:solidFill>
                  <a:srgbClr val="212B36"/>
                </a:solidFill>
                <a:latin typeface="Poppins"/>
              </a:rPr>
              <a:t> Kolkata, West Bengal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B3C5D"/>
                </a:solidFill>
                <a:latin typeface="Poppins"/>
              </a:rPr>
              <a:t>Education:</a:t>
            </a:r>
            <a:r>
              <a:rPr sz="1000">
                <a:solidFill>
                  <a:srgbClr val="212B36"/>
                </a:solidFill>
                <a:latin typeface="Poppins"/>
              </a:rPr>
              <a:t> St. Xavier's College (MA English)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2926080" cy="1188720"/>
          </a:xfrm>
          <a:prstGeom prst="roundRect">
            <a:avLst/>
          </a:prstGeom>
          <a:solidFill>
            <a:srgbClr val="E0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950" i="1">
                <a:solidFill>
                  <a:srgbClr val="0B3C5D"/>
                </a:solidFill>
                <a:latin typeface="Poppins"/>
              </a:rPr>
              <a:t>"I want robust, verified work-from-home filters that exclude hybrid bait-and-switch listings."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371600"/>
            <a:ext cx="3749039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CAREER &amp; UX GOALS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Find 100% remote content or copywriting positions.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Collaborate with international startups and remote-first firms.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•  Avoid listings that falsely advertise remote but require office visits.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3794760"/>
            <a:ext cx="3749039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PAIN POINTS &amp; FRUSTRATIONS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Hybrid job openings incorrectly tagged as remote in search systems.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Unreliable scam listings and low-budget freelance posts on open boards.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✖  Lack of automated timezone conversion options in hiring descriptions.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371600"/>
            <a:ext cx="3657600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0B3C5D"/>
                </a:solidFill>
                <a:latin typeface="Poppins"/>
              </a:rPr>
              <a:t>KEY SEARCH BEHAVIORS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Filters jobs strictly by 'Remote' tags and checks applicant counts.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Researches remote culture on company websites and directories.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212B36"/>
                </a:solidFill>
                <a:latin typeface="Poppins"/>
              </a:rPr>
              <a:t>✔  Applies to international remote-first companies on dedicated boards.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794760"/>
            <a:ext cx="3657600" cy="224028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39319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B3C5D"/>
                </a:solidFill>
                <a:latin typeface="Poppins"/>
              </a:rPr>
              <a:t>PLATFORM PREFERENCES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1330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Indeed (85% Usage)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43891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183879" y="4389120"/>
            <a:ext cx="2720340" cy="164592"/>
          </a:xfrm>
          <a:prstGeom prst="roundRect">
            <a:avLst/>
          </a:prstGeom>
          <a:solidFill>
            <a:srgbClr val="255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3879" y="45902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LinkedIn Jobs (75% Usage)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48463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183879" y="4846320"/>
            <a:ext cx="2400300" cy="164592"/>
          </a:xfrm>
          <a:prstGeom prst="round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83879" y="50474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12B36"/>
                </a:solidFill>
                <a:latin typeface="Poppins"/>
              </a:rPr>
              <a:t>Naukri.com (40% Usage)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5303520"/>
            <a:ext cx="3200400" cy="164592"/>
          </a:xfrm>
          <a:prstGeom prst="round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183879" y="5303520"/>
            <a:ext cx="1280160" cy="164592"/>
          </a:xfrm>
          <a:prstGeom prst="roundRect">
            <a:avLst/>
          </a:prstGeom>
          <a:solidFill>
            <a:srgbClr val="0D55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328CC1"/>
                </a:solidFill>
                <a:latin typeface="Poppins"/>
              </a:rPr>
              <a:t>USER JOURNEY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B3C5D"/>
                </a:solidFill>
                <a:latin typeface="Poppins"/>
              </a:rPr>
              <a:t>Aryan Naik's job search map reveals critical drop-offs in registration and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9050"/>
          </a:xfrm>
          <a:prstGeom prst="rect">
            <a:avLst/>
          </a:prstGeom>
          <a:solidFill>
            <a:srgbClr val="328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>
                <a:solidFill>
                  <a:srgbClr val="637381"/>
                </a:solidFill>
                <a:latin typeface="Poppins"/>
              </a:rPr>
              <a:t>Aryan Naik | PRN: 1262242637 | Panel F | Domain: Job Portals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1274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>
                <a:solidFill>
                  <a:srgbClr val="637381"/>
                </a:solidFill>
                <a:latin typeface="Poppins"/>
              </a:rPr>
              <a:t>Slide 16 of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737360" cy="45720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oppins"/>
              </a:rPr>
              <a:t>1. Open Portal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737360" cy="320040"/>
          </a:xfrm>
          <a:prstGeom prst="roundRect">
            <a:avLst/>
          </a:prstGeom>
          <a:solidFill>
            <a:srgbClr val="E1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228B22"/>
                </a:solidFill>
                <a:latin typeface="Poppins"/>
              </a:rPr>
              <a:t>Excited (Positive)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1737360" cy="146304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Tasks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Decides to look for new jobs.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Selects target portals.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Loads URLs/apps on browser/mobile.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1737360" cy="128016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Pain Points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Initial load lagging on weak internet.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Forced redirect popups for app downloads.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166360"/>
            <a:ext cx="1737360" cy="1143000"/>
          </a:xfrm>
          <a:prstGeom prst="roundRect">
            <a:avLst/>
          </a:prstGeom>
          <a:solidFill>
            <a:srgbClr val="EEF3F8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Opportunities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Integrate lightweight mobile-optimized progressive web app technology.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95728" y="1463040"/>
            <a:ext cx="1737360" cy="45720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oppins"/>
              </a:rPr>
              <a:t>2. Login/Register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95728" y="1965960"/>
            <a:ext cx="1737360" cy="320040"/>
          </a:xfrm>
          <a:prstGeom prst="roundRect">
            <a:avLst/>
          </a:prstGeom>
          <a:solidFill>
            <a:srgbClr val="FD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B22222"/>
                </a:solidFill>
                <a:latin typeface="Poppins"/>
              </a:rPr>
              <a:t>Irritated (Negative)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95728" y="2331720"/>
            <a:ext cx="1737360" cy="146304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Tasks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Enters personal credentials.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Uploads resumes.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Answers comprehensive demographic profiles.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95728" y="3840480"/>
            <a:ext cx="1737360" cy="128016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Pain Points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Repetitive form fields even after uploading resume.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OTP delays during authentication.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95728" y="5166360"/>
            <a:ext cx="1737360" cy="1143000"/>
          </a:xfrm>
          <a:prstGeom prst="roundRect">
            <a:avLst/>
          </a:prstGeom>
          <a:solidFill>
            <a:srgbClr val="EEF3F8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Opportunities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Incorporate one-click authentication like LinkedIn/Google OAuth.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42816" y="1463040"/>
            <a:ext cx="1737360" cy="45720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oppins"/>
              </a:rPr>
              <a:t>3. Search Jobs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1965960"/>
            <a:ext cx="1737360" cy="320040"/>
          </a:xfrm>
          <a:prstGeom prst="roundRect">
            <a:avLst/>
          </a:prstGeom>
          <a:solidFill>
            <a:srgbClr val="E1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228B22"/>
                </a:solidFill>
                <a:latin typeface="Poppins"/>
              </a:rPr>
              <a:t>Satisfied (Positive)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42816" y="2331720"/>
            <a:ext cx="1737360" cy="146304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Tasks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Applies filters (location, salary).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Inputs search keywords.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Scans first page of results.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42816" y="3840480"/>
            <a:ext cx="1737360" cy="128016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Pain Points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Irrelevant sponsored search results.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Lack of advanced filters like remote/on-site on Indeed.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42816" y="5166360"/>
            <a:ext cx="1737360" cy="1143000"/>
          </a:xfrm>
          <a:prstGeom prst="roundRect">
            <a:avLst/>
          </a:prstGeom>
          <a:solidFill>
            <a:srgbClr val="EEF3F8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Opportunities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Incorporate NLP search query parsers to deliver accurate semantic results.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9904" y="1463040"/>
            <a:ext cx="1737360" cy="45720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oppins"/>
              </a:rPr>
              <a:t>4. Apply to Jobs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9904" y="1965960"/>
            <a:ext cx="1737360" cy="320040"/>
          </a:xfrm>
          <a:prstGeom prst="roundRect">
            <a:avLst/>
          </a:prstGeom>
          <a:solidFill>
            <a:srgbClr val="F0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6F42C1"/>
                </a:solidFill>
                <a:latin typeface="Poppins"/>
              </a:rPr>
              <a:t>Anxious (High Stress)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9904" y="2331720"/>
            <a:ext cx="1737360" cy="146304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Tasks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Clicks core call-to-action.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Answers job-specific questions.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Submits finalized application.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9904" y="3840480"/>
            <a:ext cx="1737360" cy="128016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Pain Points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Redirection loop back to company external portal.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Repeated cover-letter upload gates.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9904" y="5166360"/>
            <a:ext cx="1737360" cy="1143000"/>
          </a:xfrm>
          <a:prstGeom prst="roundRect">
            <a:avLst/>
          </a:prstGeom>
          <a:solidFill>
            <a:srgbClr val="EEF3F8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Opportunities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Partner with HR software to expand uniform One-Click Apply APIs.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36992" y="1463040"/>
            <a:ext cx="1737360" cy="45720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oppins"/>
              </a:rPr>
              <a:t>5. Track Status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36992" y="1965960"/>
            <a:ext cx="1737360" cy="320040"/>
          </a:xfrm>
          <a:prstGeom prst="roundRect">
            <a:avLst/>
          </a:prstGeom>
          <a:solidFill>
            <a:srgbClr val="FD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B22222"/>
                </a:solidFill>
                <a:latin typeface="Poppins"/>
              </a:rPr>
              <a:t>Fatigued (Low Energy)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36992" y="2331720"/>
            <a:ext cx="1737360" cy="146304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Tasks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Refreshes application dashboard.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Checks email regularly.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Monitors job listing status.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36992" y="3840480"/>
            <a:ext cx="1737360" cy="128016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Pain Points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Completely opaque application progress.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Silent rejections without status updates.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36992" y="5166360"/>
            <a:ext cx="1737360" cy="1143000"/>
          </a:xfrm>
          <a:prstGeom prst="roundRect">
            <a:avLst/>
          </a:prstGeom>
          <a:solidFill>
            <a:srgbClr val="EEF3F8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Opportunities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Add dynamic progression tracker cards showing recruiter pipeline view.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84080" y="1463040"/>
            <a:ext cx="1737360" cy="45720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oppins"/>
              </a:rPr>
              <a:t>6. Get Response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84080" y="1965960"/>
            <a:ext cx="1737360" cy="320040"/>
          </a:xfrm>
          <a:prstGeom prst="roundRect">
            <a:avLst/>
          </a:prstGeom>
          <a:solidFill>
            <a:srgbClr val="FF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B87333"/>
                </a:solidFill>
                <a:latin typeface="Poppins"/>
              </a:rPr>
              <a:t>Neutral (Passive)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84080" y="2331720"/>
            <a:ext cx="1737360" cy="146304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Tasks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Receives portal notification.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Arranges interview schedule.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Closes successful application.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84080" y="3840480"/>
            <a:ext cx="1737360" cy="1280160"/>
          </a:xfrm>
          <a:prstGeom prst="roundRect">
            <a:avLst/>
          </a:prstGeom>
          <a:solidFill>
            <a:srgbClr val="F6F8FB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Pain Points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Automated system rejection alerts.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Ghosting from recruiters without feedback.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84080" y="5166360"/>
            <a:ext cx="1737360" cy="1143000"/>
          </a:xfrm>
          <a:prstGeom prst="roundRect">
            <a:avLst/>
          </a:prstGeom>
          <a:solidFill>
            <a:srgbClr val="EEF3F8"/>
          </a:solidFill>
          <a:ln>
            <a:solidFill>
              <a:srgbClr val="DAE2E9"/>
            </a:solidFill>
          </a:ln>
          <a:effectLst>
            <a:outerShdw blurRad="15000" dist="3000" dir="54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0B3C5D"/>
                </a:solidFill>
                <a:latin typeface="Poppins"/>
              </a:rPr>
              <a:t>Opportunities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12B36"/>
                </a:solidFill>
                <a:latin typeface="Poppins"/>
              </a:rPr>
              <a:t>•  Add automated reminder rules requesting recruiters send closing feedback.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D91D8D-D0D8-5DDE-91E8-AFD6EEA9E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834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3189</Words>
  <Application>Microsoft Office PowerPoint</Application>
  <PresentationFormat>Widescreen</PresentationFormat>
  <Paragraphs>457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Aryan Naik</dc:creator>
  <cp:keywords/>
  <dc:description>generated using python-pptx</dc:description>
  <cp:lastModifiedBy>Nancy Kathiriya</cp:lastModifiedBy>
  <cp:revision>2</cp:revision>
  <dcterms:created xsi:type="dcterms:W3CDTF">2013-01-27T09:14:16Z</dcterms:created>
  <dcterms:modified xsi:type="dcterms:W3CDTF">2026-08-08T16:29:51Z</dcterms:modified>
  <cp:category/>
</cp:coreProperties>
</file>